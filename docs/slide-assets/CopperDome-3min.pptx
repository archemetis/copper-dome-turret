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08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สวัสดีครับ กลุ่มเรานำเสนอ Copper Dome Turret — ป้อมยิงอัตโนมัติที่ให้ผู้ใช้คลิกเลือกเป้าบนจอ แล้วป้อมหันไปยิงเอง เขียนด้วย Python 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ภาพรวมระบบเป็นแบบนี้ครับ กล้องมือถือส่งภาพเข้าคอม คอมรันโมเดลตรวจจับและตัวคุมการเล็ง แล้วส่งคำสั่งผ่าน Firmata ไปที่ Arduino ซึ่งทำหน้าที่เป็นแค่ช่องสัญญาณเข้าออก ไม่มีตรรกะอยู่บนบอร์ดเลย ตรรกะทุกบรรทัดอยู่ฝั่ง Python ตามกติกาที่กำหนดให้ใช้ Python อย่างเดียว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กลไกยิงเป็นล้อฟลายวีลสองล้อหมุนสวนทางกัน หนีบลูกบอลไม้แล้วสะบัดออก ป้อนลูกด้วยแมกกาซีนแรงโน้มถ่วง ไม่ต้องมีเซอร์โวดันลูก ตัวป้อมหมุนสองแกน แกนส่ายใช้เซอร์โว MG945 หมุนได้บวกลบห้าสิบองศา แกนเงยใช้เซอร์โวอีกตัวขับผ่านเฟืองสะพาน — จุดที่ต้องเล่าคือมอเตอร์ครับ ตอนแรกใช้มอเตอร์ TT ทั้งชุด ยิงไม่ออกเลย เพราะมันมีเกียร์ทดรอบ เราถอดเกียร์บ็อกซ์ออกใช้แกนมอเตอร์เปลือย ยิงออกเกินหนึ่งเมตรครึ่งทันที เดี๋ยวสไลด์คำนวณจะบอกว่ารู้ได้ยังไงว่าต้องถอด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แนวคิดการเล็งครับ เราติดกล้องไว้กับลำกล้อง กล้องหันไปพร้อมป้อมเสมอ การเล็งจึงกลายเป็นการลดระยะห่างระหว่างเป้ากับจุดเล็งบนภาพให้เหลือศูนย์ ไม่ต้องวัดระยะถึงเป้าเลย ตัวคุมเป็น P controller ค่าเกน 0.03 องศาต่อพิกเซล จำกัดก้าวละไม่เกิน 6 องศากันเหวี่ยงเกิน และต้องอยู่ในกรอบ 15 พิกเซลติดกันสามเฟรม ระบบถึงจะประกาศว่าพร้อมยิง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ฝั่งวงจรครับ แบตเตอรี่ 18650 สองก้อนอนุกรมได้ 7.4 โวลต์ แยกสองทาง ทางแรกเข้า L298N ซึ่งเป็นวงจร H-bridge คุมความเร็วมอเตอร์ด้วย PWM ที่ขา ENA ENB และคุมทิศด้วยขา IN หนึ่งถึงสี่ ทางที่สองผ่าน buck ลดเหลือ 6 โวลต์เลี้ยงเซอร์โวแยกต่างหาก เพราะถ้าดึงจากไฟ USB ของ Arduino บอร์ดจะรีเซ็ตตัวเอง กราวด์ทุกส่วนต่อร่วมกัน ส่วนทฤษฎีที่ใช้แปลงภาพเป็นมุมคือแบบจำลองกล้องรูเข็ม มุมเท่ากับอาร์กแทนเจนต์ของระยะพิกเซลหารความยาวโฟกัส ซึ่งเราวัดได้ 1400 พิกเซล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รายการคำนวณการเคลื่อนที่กระสุนครับ เราใช้สมการโพรเจกไทล์มาตรฐาน แกนราบความเร็วคงที่ แกนดิ่งมีความเร่งโน้มถ่วง เป้าอยู่สูงกว่าปากกระบอก 0.4 เมตรตามระยะสนามที่โจทย์กำหนด แก้สมการหาความเร็วต้นที่ต้องใช้ ได้ผลสามข้อ — หนึ่ง ระยะหนึ่งเมตรครึ่งถึงสองเมตรสี่ ต้องการความเร็วลูกแค่ราวห้าถึงหกเมตรต่อวินาที สอง ที่มุม 25 องศา ความเร็วกับระยะไม่เรียงกัน ระยะเดียวได้จากความเร็วสองค่า เราจึงเลือกล็อกมุมเงยที่ 30 ถึง 35 องศาแทน สาม ความเร็วขอบล้อประมาณสองเท่าของความเร็วลูก ล้อเส้นผ่านศูนย์กลาง 50 มิลลิเมตร ต้องหมุนราวสามพันแปดร้อยรอบต่อนาที — ตัวเลขนี้เองที่บอกเราว่ามอเตอร์ที่มีเกียร์ทดเหลือสองร้อยรอบใช้ไม่ได้ ต้องถอดเกียร์ออก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ฝั่งการมองเห็นครับ เราเก็บชุดข้อมูลเอง 3,333 ภาพ ปัญหาที่เจอคือโมเดลมองถุงพลาสติกเป็นคาปิบาร่าด้วยความมั่นใจ 0.83 สาเหตุคือชุดวัดผลไม่มีภาพพื้นหลังเปล่าเลย แปลว่าเราวัดการมองมั่วไม่ได้ตั้งแต่ต้น เราเก็บภาพพื้นหลังเพิ่มแล้วเทรนใหม่ อัตรามองมั่วบนห้องที่โมเดลไม่เคยเห็นลดจาก 8 เปอร์เซ็นต์เหลือ 1.1 โดยความไวไม่ตก</a:t>
            </a:r>
          </a:p>
          <a:p>
            <a:endParaRPr/>
          </a:p>
          <a:p>
            <a:r>
              <a:t>*** ห้ามพูดว่าเป็นตัวเลขของห้องแข่ง — พูดได้แค่ 'ห้องที่โมเดลไม่เคยเห็น' ***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สุดท้ายคือส่วนติดต่อผู้ใช้ครับ ผู้ใช้คลิกที่ตุ๊กตาตัวไหนก็ได้ในสามตัว ป้อมจะหันไปล็อกตัวนั้น กด F ยิง และมีปุ่ม G หยุดล้อฉุกเฉินที่กดได้ทุกสถานะ พร้อมสาธิตแล้วครับ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14884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5600" b="1" i="0">
                <a:solidFill>
                  <a:srgbClr val="0F2233"/>
                </a:solidFill>
                <a:latin typeface="Leelawadee UI"/>
                <a:cs typeface="Leelawadee UI"/>
              </a:rPr>
              <a:t>Copper Dome Turret</a:t>
            </a:r>
          </a:p>
          <a:p>
            <a:pPr algn="l">
              <a:lnSpc>
                <a:spcPct val="125000"/>
              </a:lnSpc>
              <a:spcAft>
                <a:spcPts val="2600"/>
              </a:spcAft>
            </a:pPr>
            <a:r>
              <a:rPr sz="2400" b="0" i="0">
                <a:solidFill>
                  <a:srgbClr val="1C2B36"/>
                </a:solidFill>
                <a:latin typeface="Leelawadee UI"/>
                <a:cs typeface="Leelawadee UI"/>
              </a:rPr>
              <a:t>ป้อมยิงอัตโนมัติ — คลิกเลือกเป้า แล้วป้อมหันไปยิงเอง</a:t>
            </a:r>
          </a:p>
          <a:p>
            <a:pPr algn="l">
              <a:lnSpc>
                <a:spcPct val="125000"/>
              </a:lnSpc>
              <a:spcAft>
                <a:spcPts val="3400"/>
              </a:spcAft>
            </a:pPr>
            <a:r>
              <a:rPr sz="1800" b="1" i="0">
                <a:solidFill>
                  <a:srgbClr val="B87333"/>
                </a:solidFill>
                <a:latin typeface="Leelawadee UI"/>
                <a:cs typeface="Leelawadee UI"/>
              </a:rPr>
              <a:t>เขียนด้วย Python ทั้งหมด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5A6B78"/>
                </a:solidFill>
                <a:latin typeface="Leelawadee UI"/>
                <a:cs typeface="Leelawadee UI"/>
              </a:rPr>
              <a:t>ARIS Project III  ·  Mini Project 1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A6B78"/>
                </a:solidFill>
                <a:latin typeface="Leelawadee UI"/>
                <a:cs typeface="Leelawadee UI"/>
              </a:rPr>
              <a:t>[ใส่ชื่อสมาชิกทีม]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ภาพรวมระบบ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fig-block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9" y="1546861"/>
            <a:ext cx="10245851" cy="32299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4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19456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cs typeface="Leelawadee UI"/>
              </a:rPr>
              <a:t>ตรรกะทุกบรรทัดอยู่ฝั่ง Python — Arduino เป็นแค่ช่องสัญญาณเข้า/ออก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กลไกการสร้าง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32927" y="502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87333"/>
                </a:solidFill>
                <a:latin typeface="Leelawadee UI"/>
                <a:cs typeface="Leelawadee UI"/>
              </a:rPr>
              <a:t>หัวข้อบังคับ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029200" cy="370332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 w="19050">
            <a:solidFill>
              <a:srgbClr val="B6C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44805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5A6B78"/>
                </a:solidFill>
                <a:latin typeface="Leelawadee UI"/>
                <a:cs typeface="Leelawadee UI"/>
              </a:rPr>
              <a:t>🖼  รูปถ่ายป้อมจริง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A6B78"/>
                </a:solidFill>
                <a:latin typeface="Leelawadee UI"/>
                <a:cs typeface="Leelawadee UI"/>
              </a:rPr>
              <a:t>ให้เห็น flywheel คู่ + แกน pan/tilt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727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กลไกยิง — ล้อ flywheel คู่หมุนสวนทาง หนีบลูกบอลไม้แล้วสะบัดออก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ป้อนลูก — แมกกาซีน gravity-feed ไม่มีเซอร์โวดันลูก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สองแกน — pan ±50°  ·  tilt ผ่านเฟืองสะพาน (rack) ช่วง 90–180°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เซอร์โว MG945 สองตัว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160520"/>
            <a:ext cx="5669280" cy="1024128"/>
          </a:xfrm>
          <a:prstGeom prst="roundRect">
            <a:avLst>
              <a:gd name="adj" fmla="val 4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19456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Leelawadee UI"/>
                <a:cs typeface="Leelawadee UI"/>
              </a:rPr>
              <a:t>⚙  ถอด gearbox ออกจากมอเตอร์ TT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Leelawadee UI"/>
                <a:cs typeface="Leelawadee UI"/>
              </a:rPr>
              <a:t>จากยิงไม่ออกเลย → ยิงได้เกิน 1.5 เมตร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แนวคิดออกแบบ: โหมดสโคป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32927" y="502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87333"/>
                </a:solidFill>
                <a:latin typeface="Leelawadee UI"/>
                <a:cs typeface="Leelawadee UI"/>
              </a:rPr>
              <a:t>หัวข้อบังคับ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5029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97480" y="3161538"/>
            <a:ext cx="768096" cy="2286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70098" y="2788920"/>
            <a:ext cx="22860" cy="768096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995928" y="2231136"/>
            <a:ext cx="713232" cy="713232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3374136" y="3026664"/>
            <a:ext cx="640080" cy="292608"/>
          </a:xfrm>
          <a:prstGeom prst="rightArrow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4206240" y="2999232"/>
            <a:ext cx="292608" cy="137160"/>
          </a:xfrm>
          <a:prstGeom prst="downArrow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337413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F2233"/>
                </a:solidFill>
                <a:latin typeface="Leelawadee UI"/>
                <a:cs typeface="Leelawadee UI"/>
              </a:rPr>
              <a:t>error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2186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F2233"/>
                </a:solidFill>
                <a:latin typeface="Leelawadee UI"/>
                <a:cs typeface="Leelawadee UI"/>
              </a:rPr>
              <a:t>error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A6B78"/>
                </a:solidFill>
                <a:latin typeface="Leelawadee UI"/>
                <a:cs typeface="Leelawadee UI"/>
              </a:rPr>
              <a:t>จุด zero (กากบาท) = ตำแหน่งที่ยิงแล้วโดน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1947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B87333"/>
                </a:solidFill>
                <a:latin typeface="Leelawadee UI"/>
                <a:cs typeface="Leelawadee UI"/>
              </a:rPr>
              <a:t>เล็ง = ลด error สองแกนให้เป็นศูนย์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572768"/>
            <a:ext cx="5669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0F2233"/>
                </a:solidFill>
                <a:latin typeface="Leelawadee UI"/>
                <a:cs typeface="Leelawadee UI"/>
              </a:rPr>
              <a:t>กล้องติดไปกับลำกล้อง → ไม่ต้องวัดระยะถึงเป้าเลย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871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P controller  ·  เกน 0.03 องศาต่อพิกเซล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จำกัดก้าวละไม่เกิน 6 องศา กันเหวี่ยงเกิน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ต้องอยู่ในกรอบ 15 พิกเซล ติดกัน 3 เฟรม ถึงประกาศว่าพร้อมยิง</a:t>
            </a:r>
          </a:p>
          <a:p>
            <a:pPr marL="274320" indent="-274320"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เป้าอยู่ระดับโต๊ะเดียวกัน + ยิงแรงคงที่ → จุด zero จุดเดียวคุมได้ทั้งช่วง 1.5–2.4 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วงจร และทฤษฎีที่ประยุกต์ใช้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32927" y="502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87333"/>
                </a:solidFill>
                <a:latin typeface="Leelawadee UI"/>
                <a:cs typeface="Leelawadee UI"/>
              </a:rPr>
              <a:t>หัวข้อบังคับ ③</a:t>
            </a:r>
          </a:p>
        </p:txBody>
      </p:sp>
      <p:pic>
        <p:nvPicPr>
          <p:cNvPr id="5" name="Picture 4" descr="fig-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6537960" cy="3708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572768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1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18650 ×2 อนุกรม = 7.4 V แยกสองทาง</a:t>
            </a:r>
          </a:p>
          <a:p>
            <a:pPr marL="274320" indent="-274320" algn="l">
              <a:lnSpc>
                <a:spcPct val="125000"/>
              </a:lnSpc>
              <a:spcAft>
                <a:spcPts val="11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→ L298N (H-bridge)  ·  PWM ที่ ENA/ENB คุมความเร็ว  ·  IN1–IN4 คุมทิศ</a:t>
            </a:r>
          </a:p>
          <a:p>
            <a:pPr marL="274320" indent="-274320" algn="l">
              <a:lnSpc>
                <a:spcPct val="125000"/>
              </a:lnSpc>
              <a:spcAft>
                <a:spcPts val="11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→ buck 6 V เลี้ยงเซอร์โวแยก (ถ้าดึงจาก USB บอร์ดจะรีเซ็ตตัวเอง)</a:t>
            </a:r>
          </a:p>
          <a:p>
            <a:pPr marL="274320" indent="-274320" algn="l">
              <a:lnSpc>
                <a:spcPct val="125000"/>
              </a:lnSpc>
              <a:spcAft>
                <a:spcPts val="11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กราวด์ทุกส่วนต่อร่วมกัน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4315968"/>
            <a:ext cx="4279392" cy="1536192"/>
          </a:xfrm>
          <a:prstGeom prst="roundRect">
            <a:avLst>
              <a:gd name="adj" fmla="val 4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19456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Leelawadee UI"/>
                <a:cs typeface="Leelawadee UI"/>
              </a:rPr>
              <a:t>แบบจำลองกล้องรูเข็ม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</a:rPr>
              <a:t>θ  =  arctan( Δpx / f )     ·     f = 1400 px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Leelawadee UI"/>
                <a:cs typeface="Leelawadee UI"/>
              </a:rPr>
              <a:t>แปลง “เป้าเยื้องกี่พิกเซล” → “ต้องหมุนกี่องศา”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รายการคำนวณการเคลื่อนที่กระสุน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32927" y="502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87333"/>
                </a:solidFill>
                <a:latin typeface="Leelawadee UI"/>
                <a:cs typeface="Leelawadee UI"/>
              </a:rPr>
              <a:t>หัวข้อบังคับ 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0F2233"/>
                </a:solidFill>
                <a:latin typeface="Leelawadee UI"/>
                <a:cs typeface="Leelawadee UI"/>
              </a:rPr>
              <a:t>x(t) = v·cosθ·t          y(t) = h₀ + v·sinθ·t − ½gt²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78"/>
                </a:solidFill>
                <a:latin typeface="Leelawadee UI"/>
                <a:cs typeface="Leelawadee UI"/>
              </a:rPr>
              <a:t>เป้าสูงกว่าปากกระบอก  Δh = +0.40 m   (โต๊ะ 800 − แท่นปืน 400 mm ตามโจทย์)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70048"/>
          <a:ext cx="690372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ความเร็วต้นที่ต้องใช้ (m/s)</a:t>
                      </a:r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1.50 m</a:t>
                      </a:r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1.75 m</a:t>
                      </a:r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2.00 m</a:t>
                      </a:r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2.25 m</a:t>
                      </a:r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anchor="ctr">
                    <a:solidFill>
                      <a:srgbClr val="0F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θ = 25°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6.70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6.63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6.70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6.82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⚠  ดิ่งแล้วขึ้น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θ = 30°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5.62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5.73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5.89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6.07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✓  เรียงขึ้น</a:t>
                      </a:r>
                    </a:p>
                  </a:txBody>
                  <a:tcPr marL="73152" marR="73152" anchor="ctr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θ = 35°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5.21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5.41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5.61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C2B36"/>
                          </a:solidFill>
                          <a:latin typeface="Leelawadee UI"/>
                          <a:cs typeface="Leelawadee UI"/>
                        </a:rPr>
                        <a:t>✓  เรียงขึ้น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670048"/>
            <a:ext cx="38862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25000"/>
              </a:lnSpc>
              <a:spcAft>
                <a:spcPts val="1100"/>
              </a:spcAft>
            </a:pPr>
            <a:r>
              <a:rPr sz="1400" b="0" i="0">
                <a:solidFill>
                  <a:srgbClr val="1C2B36"/>
                </a:solidFill>
                <a:latin typeface="Leelawadee UI"/>
                <a:cs typeface="Leelawadee UI"/>
              </a:rPr>
              <a:t>1.  ระยะโจทย์ 1.5–2.4 m → ต้องการความเร็วลูกแค่ ~5–6 m/s</a:t>
            </a:r>
          </a:p>
          <a:p>
            <a:pPr marL="237744" indent="-237744" algn="l">
              <a:lnSpc>
                <a:spcPct val="125000"/>
              </a:lnSpc>
              <a:spcAft>
                <a:spcPts val="1100"/>
              </a:spcAft>
            </a:pPr>
            <a:r>
              <a:rPr sz="1400" b="0" i="0">
                <a:solidFill>
                  <a:srgbClr val="1C2B36"/>
                </a:solidFill>
                <a:latin typeface="Leelawadee UI"/>
                <a:cs typeface="Leelawadee UI"/>
              </a:rPr>
              <a:t>2.  ที่ 25° ระยะเดียวได้จากความเร็ว 2 ค่า = กำกวมกลางช่วงใช้งาน → ล็อกมุมเงย 30–35°</a:t>
            </a:r>
          </a:p>
          <a:p>
            <a:pPr marL="237744" indent="-237744"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C2B36"/>
                </a:solidFill>
                <a:latin typeface="Leelawadee UI"/>
                <a:cs typeface="Leelawadee UI"/>
              </a:rPr>
              <a:t>3.  ความเร็วขอบล้อ ≈ 2× ความเร็วลูก · ล้อ Ø50 mm → ต้องหมุน ~3800 RPM</a:t>
            </a:r>
          </a:p>
          <a:p>
            <a:pPr marL="237744" indent="-237744"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B87333"/>
                </a:solidFill>
                <a:latin typeface="Leelawadee UI"/>
                <a:cs typeface="Leelawadee UI"/>
              </a:rPr>
              <a:t>⟵  ตัวเลขนี้เองที่บอกว่ามอเตอร์มีเกียร์ (~200 RPM) ใช้ไม่ได้ ต้องถอด gearbox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5A6B78"/>
                </a:solidFill>
                <a:latin typeface="Leelawadee UI"/>
                <a:cs typeface="Leelawadee UI"/>
              </a:rPr>
              <a:t>แบบจำลองไม่รวมแรงต้านอากาศ — ใช้กำหนดข้อกำหนดการออกแบบ ความแม่นจริงมาจากการยิงวัด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ทำให้มองไม่มั่ว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fig-fp-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5806440" cy="34698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572768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400"/>
              </a:spcAft>
            </a:pPr>
            <a:r>
              <a:rPr sz="1600" b="0" i="0">
                <a:solidFill>
                  <a:srgbClr val="1C2B36"/>
                </a:solidFill>
                <a:latin typeface="Leelawadee UI"/>
                <a:cs typeface="Leelawadee UI"/>
              </a:rPr>
              <a:t>▸  ชุดข้อมูลเก็บเอง 3,333 ภาพ  ·  3 ชนิด (capybara / dino / elephant)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95728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0F2233"/>
                </a:solidFill>
                <a:latin typeface="Leelawadee UI"/>
                <a:cs typeface="Leelawadee UI"/>
              </a:rPr>
              <a:t>ประตูกัน false positive 3 ชั้น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852928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① ความมั่นใจ ≥ 0.30</a:t>
            </a:r>
          </a:p>
          <a:p>
            <a:pPr marL="274320" indent="-274320"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② ขนาดกรอบต้องสมเหตุผลกับระยะ 0.5–4.5 ม.</a:t>
            </a:r>
          </a:p>
          <a:p>
            <a:pPr marL="274320" indent="-274320"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C2B36"/>
                </a:solidFill>
                <a:latin typeface="Leelawadee UI"/>
                <a:cs typeface="Leelawadee UI"/>
              </a:rPr>
              <a:t>▸  ③ ต้องเห็นซ้ำที่เดิม 3 เฟรม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526280"/>
            <a:ext cx="4919472" cy="1234440"/>
          </a:xfrm>
          <a:prstGeom prst="roundRect">
            <a:avLst>
              <a:gd name="adj" fmla="val 4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19456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cs typeface="Leelawadee UI"/>
              </a:rPr>
              <a:t>บทเรียน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Leelawadee UI"/>
                <a:cs typeface="Leelawadee UI"/>
              </a:rPr>
              <a:t>ชุดวัดผลที่ไม่มีภาพพื้นหลังเลย = วัดการมองมั่วไม่ได้ตามนิยาม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0F2233"/>
                </a:solidFill>
                <a:latin typeface="Leelawadee UI"/>
                <a:cs typeface="Leelawadee UI"/>
              </a:rPr>
              <a:t>เลือกเป้าด้วย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6858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 w="19050">
            <a:solidFill>
              <a:srgbClr val="B6C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481328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5A6B78"/>
                </a:solidFill>
                <a:latin typeface="Leelawadee UI"/>
                <a:cs typeface="Leelawadee UI"/>
              </a:rPr>
              <a:t>🖼  ภาพหน้าจอขณะล็อกเป้า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A6B78"/>
                </a:solidFill>
                <a:latin typeface="Leelawadee UI"/>
                <a:cs typeface="Leelawadee UI"/>
              </a:rPr>
              <a:t>ให้เห็นกรอบตรวจจับ + เป้าเล็งแดง + จุด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230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Aft>
                <a:spcPts val="15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คลิกซ้ายที่ตุ๊กตาตัวไหนก็ได้ใน 3 ตัว → ป้อมหันไปล็อกตัวนั้น</a:t>
            </a:r>
          </a:p>
          <a:p>
            <a:pPr marL="274320" indent="-274320" algn="l">
              <a:lnSpc>
                <a:spcPct val="125000"/>
              </a:lnSpc>
              <a:spcAft>
                <a:spcPts val="15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F ยิง  ·  G หยุดล้อฉุกเฉิน (กดได้ทุกสถานะ)  ·  C คืนป้อมกลางลำ</a:t>
            </a:r>
          </a:p>
          <a:p>
            <a:pPr marL="274320" indent="-274320" algn="l">
              <a:lnSpc>
                <a:spcPct val="125000"/>
              </a:lnSpc>
              <a:spcAft>
                <a:spcPts val="1500"/>
              </a:spcAft>
            </a:pPr>
            <a:r>
              <a:rPr sz="1700" b="0" i="0">
                <a:solidFill>
                  <a:srgbClr val="1C2B36"/>
                </a:solidFill>
                <a:latin typeface="Leelawadee UI"/>
                <a:cs typeface="Leelawadee UI"/>
              </a:rPr>
              <a:t>▸  ขยับป้อมเองเมื่อไหร่ ระบบล้างสถานะล็อกทันที — กันยิงโดยเชื่อภาพเก่า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19456" rtlCol="0" anchor="ctr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Leelawadee UI"/>
                <a:cs typeface="Leelawadee UI"/>
              </a:rPr>
              <a:t>พร้อมสาธิตครับ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1380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Mahathi Awaetaloh</cp:lastModifiedBy>
  <cp:revision>2</cp:revision>
  <dcterms:created xsi:type="dcterms:W3CDTF">2013-01-27T09:14:16Z</dcterms:created>
  <dcterms:modified xsi:type="dcterms:W3CDTF">2026-07-30T04:13:23Z</dcterms:modified>
  <cp:category/>
</cp:coreProperties>
</file>